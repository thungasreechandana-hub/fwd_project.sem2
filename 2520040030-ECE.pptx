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3"/>
  </p:notesMasterIdLst>
  <p:handoutMasterIdLst>
    <p:handoutMasterId r:id="rId24"/>
  </p:handoutMasterIdLst>
  <p:sldIdLst>
    <p:sldId id="261" r:id="rId3"/>
    <p:sldId id="314" r:id="rId4"/>
    <p:sldId id="322" r:id="rId5"/>
    <p:sldId id="323" r:id="rId6"/>
    <p:sldId id="350" r:id="rId7"/>
    <p:sldId id="266" r:id="rId8"/>
    <p:sldId id="341" r:id="rId9"/>
    <p:sldId id="351" r:id="rId10"/>
    <p:sldId id="356" r:id="rId11"/>
    <p:sldId id="343" r:id="rId12"/>
    <p:sldId id="344" r:id="rId13"/>
    <p:sldId id="345" r:id="rId14"/>
    <p:sldId id="340" r:id="rId15"/>
    <p:sldId id="353" r:id="rId16"/>
    <p:sldId id="352" r:id="rId17"/>
    <p:sldId id="354" r:id="rId18"/>
    <p:sldId id="355" r:id="rId19"/>
    <p:sldId id="347" r:id="rId20"/>
    <p:sldId id="348" r:id="rId21"/>
    <p:sldId id="33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47" autoAdjust="0"/>
    <p:restoredTop sz="95833"/>
  </p:normalViewPr>
  <p:slideViewPr>
    <p:cSldViewPr snapToGrid="0" snapToObjects="1">
      <p:cViewPr varScale="1">
        <p:scale>
          <a:sx n="72" d="100"/>
          <a:sy n="72" d="100"/>
        </p:scale>
        <p:origin x="654" y="78"/>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 chandana" userId="a1e4ef97d7f7537c" providerId="LiveId" clId="{454C2084-77F9-498C-9ED0-965C2C97CAD5}"/>
    <pc:docChg chg="custSel modSld">
      <pc:chgData name="sree chandana" userId="a1e4ef97d7f7537c" providerId="LiveId" clId="{454C2084-77F9-498C-9ED0-965C2C97CAD5}" dt="2026-03-09T14:27:16.594" v="2" actId="1076"/>
      <pc:docMkLst>
        <pc:docMk/>
      </pc:docMkLst>
      <pc:sldChg chg="addSp delSp modSp mod">
        <pc:chgData name="sree chandana" userId="a1e4ef97d7f7537c" providerId="LiveId" clId="{454C2084-77F9-498C-9ED0-965C2C97CAD5}" dt="2026-03-09T14:27:16.594" v="2" actId="1076"/>
        <pc:sldMkLst>
          <pc:docMk/>
          <pc:sldMk cId="1132546537" sldId="353"/>
        </pc:sldMkLst>
        <pc:spChg chg="add del mod">
          <ac:chgData name="sree chandana" userId="a1e4ef97d7f7537c" providerId="LiveId" clId="{454C2084-77F9-498C-9ED0-965C2C97CAD5}" dt="2026-03-09T14:27:10.159" v="1" actId="931"/>
          <ac:spMkLst>
            <pc:docMk/>
            <pc:sldMk cId="1132546537" sldId="353"/>
            <ac:spMk id="7" creationId="{37318E10-C38F-87A2-632B-C6B67BD7703B}"/>
          </ac:spMkLst>
        </pc:spChg>
        <pc:picChg chg="add mod ord">
          <ac:chgData name="sree chandana" userId="a1e4ef97d7f7537c" providerId="LiveId" clId="{454C2084-77F9-498C-9ED0-965C2C97CAD5}" dt="2026-03-09T14:27:16.594" v="2" actId="1076"/>
          <ac:picMkLst>
            <pc:docMk/>
            <pc:sldMk cId="1132546537" sldId="353"/>
            <ac:picMk id="9" creationId="{05FF8DD8-F428-E22F-C877-D3695A3654A8}"/>
          </ac:picMkLst>
        </pc:picChg>
        <pc:picChg chg="del">
          <ac:chgData name="sree chandana" userId="a1e4ef97d7f7537c" providerId="LiveId" clId="{454C2084-77F9-498C-9ED0-965C2C97CAD5}" dt="2026-03-09T14:27:02.004" v="0" actId="478"/>
          <ac:picMkLst>
            <pc:docMk/>
            <pc:sldMk cId="1132546537" sldId="353"/>
            <ac:picMk id="11" creationId="{341CD132-5906-C2A1-049F-10AB98E563D1}"/>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dirty="0"/>
              <a:t>Use 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 Smart Resume Analysis System Tool</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 Thunga Sree Chandana</a:t>
            </a:r>
          </a:p>
          <a:p>
            <a:pPr marL="0" indent="0" algn="ctr">
              <a:buNone/>
            </a:pPr>
            <a:r>
              <a:rPr lang="en-US" sz="9600" dirty="0"/>
              <a:t>Student ID: 2520040030</a:t>
            </a:r>
          </a:p>
          <a:p>
            <a:pPr marL="0" indent="0" algn="ctr">
              <a:buNone/>
            </a:pPr>
            <a:r>
              <a:rPr lang="en-US" sz="11200" dirty="0"/>
              <a:t>Cluster:2</a:t>
            </a:r>
          </a:p>
          <a:p>
            <a:pPr marL="0" indent="0" algn="ctr">
              <a:buNone/>
            </a:pPr>
            <a:r>
              <a:rPr lang="en-US" sz="11200" dirty="0"/>
              <a:t>Section:6</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233144" y="5481407"/>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 Ms. N. M. Deepika</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28323"/>
            <a:ext cx="10717696" cy="3912303"/>
          </a:xfrm>
        </p:spPr>
        <p:txBody>
          <a:bodyPr>
            <a:normAutofit lnSpcReduction="10000"/>
          </a:bodyPr>
          <a:lstStyle/>
          <a:p>
            <a:pPr marL="0" indent="0">
              <a:buNone/>
            </a:pPr>
            <a:r>
              <a:rPr lang="en-US" dirty="0"/>
              <a:t>The Smart Resume Analysis System Tool is a web-based application designed to analyze resumes efficiently for recruitment purposes. The system evaluates resumes based on important factors such as education, work experience, technical skills, and certifications. Each factor is assigned a specific weight to calculate an overall score for the candidate. After the analysis, the system generates results that highlight the candidate’s strengths and areas for improvement. This helps recruiters quickly screen resumes and identify suitable candidates. The system also assists job seekers in understanding how their resume matches job requirements, providing a faster, smarter, and more effective approach to the recruitment process.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5567C-23E5-E8F4-A3B1-E537A6B87AA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5E12A8-C576-DE42-DB97-2FD6464AC8C1}"/>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70601AF6-D9F2-40E8-909F-9CB6A9CC970E}"/>
              </a:ext>
            </a:extLst>
          </p:cNvPr>
          <p:cNvSpPr>
            <a:spLocks noGrp="1"/>
          </p:cNvSpPr>
          <p:nvPr>
            <p:ph idx="1"/>
          </p:nvPr>
        </p:nvSpPr>
        <p:spPr/>
        <p:txBody>
          <a:bodyPr>
            <a:normAutofit/>
          </a:bodyPr>
          <a:lstStyle/>
          <a:p>
            <a:r>
              <a:rPr lang="en-US" dirty="0"/>
              <a:t>Currently, most resume evaluation processes are done manually by recruiters or through basic online resume checkers. Job seekers usually rely on general resume templates or advice from websites to improve their resumes.</a:t>
            </a:r>
          </a:p>
          <a:p>
            <a:r>
              <a:rPr lang="en-US" dirty="0"/>
              <a:t>In many cases, users must manually compare their resumes with job requirements to understand whether they meet the expectations of employers.</a:t>
            </a:r>
          </a:p>
          <a:p>
            <a:r>
              <a:rPr lang="en-US" dirty="0"/>
              <a:t>Existing systems have several limitations:</a:t>
            </a:r>
          </a:p>
          <a:p>
            <a:r>
              <a:rPr lang="en-US" dirty="0"/>
              <a:t>Limited Resume Analysis: Many online tools provide only basic keyword checking and do not give detailed feedback.</a:t>
            </a:r>
          </a:p>
        </p:txBody>
      </p:sp>
      <p:sp>
        <p:nvSpPr>
          <p:cNvPr id="5" name="Date Placeholder 4">
            <a:extLst>
              <a:ext uri="{FF2B5EF4-FFF2-40B4-BE49-F238E27FC236}">
                <a16:creationId xmlns:a16="http://schemas.microsoft.com/office/drawing/2014/main" id="{DFF1C3C6-4605-841D-663E-E42A072529A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EF003A45-6C6C-E6C3-911E-FDA71851933A}"/>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CDBC7F2D-22F8-36CC-62C7-19FA48022C2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4251014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253331"/>
            <a:ext cx="10515600" cy="4351338"/>
          </a:xfrm>
        </p:spPr>
        <p:txBody>
          <a:bodyPr>
            <a:normAutofit/>
          </a:bodyPr>
          <a:lstStyle/>
          <a:p>
            <a:r>
              <a:rPr lang="en-US" dirty="0"/>
              <a:t>Lack of Personalization: Most systems do not consider the user's skills, experience, and certifications together while analyzing resumes.</a:t>
            </a:r>
          </a:p>
          <a:p>
            <a:r>
              <a:rPr lang="en-US" dirty="0"/>
              <a:t>No ATS Score Insight: Many job seekers do not know how their resumes perform in Applicant Tracking Systems (ATS) used by companies.</a:t>
            </a:r>
          </a:p>
          <a:p>
            <a:r>
              <a:rPr lang="en-US" dirty="0"/>
              <a:t> Lack of Interview Guidance: Existing resume tools rarely provide interview preparation topics based on user skills.</a:t>
            </a:r>
          </a:p>
          <a:p>
            <a:r>
              <a:rPr lang="en-US" dirty="0"/>
              <a:t>Low User Interaction: Some resume evaluation tools have complex interfaces or limited features, making them less engaging for users.</a:t>
            </a:r>
          </a:p>
          <a:p>
            <a:pPr marL="117475" lvl="1" indent="0" algn="just">
              <a:buNone/>
            </a:pPr>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930833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1542968"/>
            <a:ext cx="10515600" cy="4351338"/>
          </a:xfrm>
        </p:spPr>
        <p:txBody>
          <a:bodyPr>
            <a:normAutofit/>
          </a:bodyPr>
          <a:lstStyle/>
          <a:p>
            <a:r>
              <a:rPr lang="en-US" dirty="0"/>
              <a:t>The proposed system is a web-based Smart Resume Analysis System Tool that helps users evaluate their resumes and understand their job readiness. The system allows users to upload their resume and enter details such as skills, experience, and certifications.</a:t>
            </a:r>
          </a:p>
          <a:p>
            <a:r>
              <a:rPr lang="en-US" dirty="0"/>
              <a:t>The system analyzes the provided information and generates an ATS score, match level, and improvement suggestions. It also provides interview preparation topics based on the selected skills.</a:t>
            </a:r>
          </a:p>
          <a:p>
            <a:r>
              <a:rPr lang="en-US" dirty="0"/>
              <a:t>This system makes the process of resume evaluation faster, easier, and more effective, helping job seekers improve their resumes and increase their chances of getting selected for jobs.</a:t>
            </a:r>
          </a:p>
          <a:p>
            <a:endParaRPr lang="en-US"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205484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4149D-AF03-BA69-6507-1CB7E2F6FD6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35D953A-BA4C-6B83-BEC3-0A869F2D4F29}"/>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6FCEC8F3-63D3-213A-B27B-E3BBC620CDC3}"/>
              </a:ext>
            </a:extLst>
          </p:cNvPr>
          <p:cNvSpPr>
            <a:spLocks noGrp="1"/>
          </p:cNvSpPr>
          <p:nvPr>
            <p:ph idx="1"/>
          </p:nvPr>
        </p:nvSpPr>
        <p:spPr>
          <a:xfrm>
            <a:off x="838200" y="1542968"/>
            <a:ext cx="10515600" cy="4351338"/>
          </a:xfrm>
        </p:spPr>
        <p:txBody>
          <a:bodyPr>
            <a:normAutofit fontScale="92500" lnSpcReduction="10000"/>
          </a:bodyPr>
          <a:lstStyle/>
          <a:p>
            <a:pPr marL="0" indent="0">
              <a:buNone/>
            </a:pPr>
            <a:r>
              <a:rPr lang="en-US" dirty="0"/>
              <a:t>It includes features such as:</a:t>
            </a:r>
          </a:p>
          <a:p>
            <a:r>
              <a:rPr lang="en-US" dirty="0"/>
              <a:t> Resume upload and analysis</a:t>
            </a:r>
          </a:p>
          <a:p>
            <a:r>
              <a:rPr lang="en-US" dirty="0"/>
              <a:t>ATS score calculation</a:t>
            </a:r>
          </a:p>
          <a:p>
            <a:r>
              <a:rPr lang="en-US" dirty="0"/>
              <a:t>Skills, experience, and certification evaluation</a:t>
            </a:r>
          </a:p>
          <a:p>
            <a:r>
              <a:rPr lang="en-US" dirty="0"/>
              <a:t>Resume improvement suggestions</a:t>
            </a:r>
          </a:p>
          <a:p>
            <a:r>
              <a:rPr lang="en-US" dirty="0"/>
              <a:t>Job readiness and match level detection</a:t>
            </a:r>
          </a:p>
          <a:p>
            <a:r>
              <a:rPr lang="en-US" dirty="0"/>
              <a:t> Interview preparation topic suggestions</a:t>
            </a:r>
            <a:br>
              <a:rPr lang="en-US" dirty="0"/>
            </a:br>
            <a:br>
              <a:rPr lang="en-US" dirty="0"/>
            </a:br>
            <a:r>
              <a:rPr lang="en-US" dirty="0"/>
              <a:t> </a:t>
            </a:r>
            <a:br>
              <a:rPr lang="en-US" dirty="0"/>
            </a:br>
            <a:r>
              <a:rPr lang="en-US" dirty="0"/>
              <a:t> </a:t>
            </a:r>
            <a:br>
              <a:rPr lang="en-US" dirty="0"/>
            </a:br>
            <a:endParaRPr lang="en-US" dirty="0"/>
          </a:p>
          <a:p>
            <a:endParaRPr lang="en-US" dirty="0"/>
          </a:p>
          <a:p>
            <a:endParaRPr lang="en-US" dirty="0"/>
          </a:p>
        </p:txBody>
      </p:sp>
      <p:sp>
        <p:nvSpPr>
          <p:cNvPr id="5" name="Date Placeholder 4">
            <a:extLst>
              <a:ext uri="{FF2B5EF4-FFF2-40B4-BE49-F238E27FC236}">
                <a16:creationId xmlns:a16="http://schemas.microsoft.com/office/drawing/2014/main" id="{DDF55E73-CDFE-B2F4-36E2-FADC6B942C5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1DF6402E-E6A0-BA5D-672C-7DF02092BF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97246765-504B-5A8C-2B00-8E32CC9D3545}"/>
              </a:ext>
            </a:extLst>
          </p:cNvPr>
          <p:cNvSpPr>
            <a:spLocks noGrp="1"/>
          </p:cNvSpPr>
          <p:nvPr>
            <p:ph type="sldNum" sz="quarter" idx="12"/>
          </p:nvPr>
        </p:nvSpPr>
        <p:spPr/>
        <p:txBody>
          <a:bodyPr/>
          <a:lstStyle/>
          <a:p>
            <a:fld id="{B961B71F-4B40-8942-BB88-E0F5C0B46E10}" type="slidenum">
              <a:rPr lang="en-US" smtClean="0"/>
              <a:t>8</a:t>
            </a:fld>
            <a:endParaRPr lang="en-US" dirty="0"/>
          </a:p>
        </p:txBody>
      </p:sp>
    </p:spTree>
    <p:extLst>
      <p:ext uri="{BB962C8B-B14F-4D97-AF65-F5344CB8AC3E}">
        <p14:creationId xmlns:p14="http://schemas.microsoft.com/office/powerpoint/2010/main" val="494953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7BA21-AED5-CC83-9A48-E6CD011CB1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A9EC1C-743B-DA1E-93B3-C1DF3812BFA6}"/>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id="{E2F9A56B-0B54-0DF4-ECFE-47CC60E7DF0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0FF7D640-4AD9-3A0E-CDE5-F0C77EAE444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BBD154B-9376-3BEE-889A-DEF5FBCFD7CC}"/>
              </a:ext>
            </a:extLst>
          </p:cNvPr>
          <p:cNvSpPr>
            <a:spLocks noGrp="1"/>
          </p:cNvSpPr>
          <p:nvPr>
            <p:ph type="sldNum" sz="quarter" idx="12"/>
          </p:nvPr>
        </p:nvSpPr>
        <p:spPr/>
        <p:txBody>
          <a:bodyPr/>
          <a:lstStyle/>
          <a:p>
            <a:fld id="{B961B71F-4B40-8942-BB88-E0F5C0B46E10}" type="slidenum">
              <a:rPr lang="en-US" smtClean="0"/>
              <a:t>9</a:t>
            </a:fld>
            <a:endParaRPr lang="en-US" dirty="0"/>
          </a:p>
        </p:txBody>
      </p:sp>
      <p:pic>
        <p:nvPicPr>
          <p:cNvPr id="10" name="Content Placeholder 9">
            <a:extLst>
              <a:ext uri="{FF2B5EF4-FFF2-40B4-BE49-F238E27FC236}">
                <a16:creationId xmlns:a16="http://schemas.microsoft.com/office/drawing/2014/main" id="{4C7F2D9C-C81F-362E-23F5-89135009F10C}"/>
              </a:ext>
            </a:extLst>
          </p:cNvPr>
          <p:cNvPicPr>
            <a:picLocks noGrp="1" noChangeAspect="1"/>
          </p:cNvPicPr>
          <p:nvPr>
            <p:ph idx="1"/>
          </p:nvPr>
        </p:nvPicPr>
        <p:blipFill>
          <a:blip r:embed="rId2"/>
          <a:stretch>
            <a:fillRect/>
          </a:stretch>
        </p:blipFill>
        <p:spPr>
          <a:xfrm>
            <a:off x="4476255" y="1229277"/>
            <a:ext cx="3435293" cy="5152940"/>
          </a:xfrm>
          <a:prstGeom prst="rect">
            <a:avLst/>
          </a:prstGeom>
        </p:spPr>
      </p:pic>
    </p:spTree>
    <p:extLst>
      <p:ext uri="{BB962C8B-B14F-4D97-AF65-F5344CB8AC3E}">
        <p14:creationId xmlns:p14="http://schemas.microsoft.com/office/powerpoint/2010/main" val="3076921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2" name="Content Placeholder 1">
            <a:extLst>
              <a:ext uri="{FF2B5EF4-FFF2-40B4-BE49-F238E27FC236}">
                <a16:creationId xmlns:a16="http://schemas.microsoft.com/office/drawing/2014/main" id="{30CCD8BE-96BB-16B1-92B1-820888175E88}"/>
              </a:ext>
            </a:extLst>
          </p:cNvPr>
          <p:cNvSpPr>
            <a:spLocks noGrp="1" noChangeArrowheads="1"/>
          </p:cNvSpPr>
          <p:nvPr>
            <p:ph idx="1"/>
          </p:nvPr>
        </p:nvSpPr>
        <p:spPr bwMode="auto">
          <a:xfrm>
            <a:off x="838200" y="1375051"/>
            <a:ext cx="1051560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Login Module</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Allows users to log in using username and password to access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Resume Upload Module</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Enables users to upload their resume for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Profile Input Module</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Users enter skills, experience, and certifications.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Resume Analysis Module</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The system analyzes the resume and calculates the ATS 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Result Module</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Displays ATS score, match level, and improvement suggestions.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Storage Module</a:t>
            </a:r>
            <a:br>
              <a:rPr kumimoji="0" lang="en-US" altLang="en-US" sz="1800" i="0" u="none" strike="noStrike" cap="none" normalizeH="0" baseline="0" dirty="0">
                <a:ln>
                  <a:noFill/>
                </a:ln>
                <a:solidFill>
                  <a:schemeClr val="tx1"/>
                </a:solidFill>
                <a:effectLst/>
                <a:latin typeface="Arial" panose="020B0604020202020204" pitchFamily="34" charset="0"/>
              </a:rPr>
            </a:br>
            <a:r>
              <a:rPr kumimoji="0" lang="en-US" altLang="en-US" sz="1800" i="0" u="none" strike="noStrike" cap="none" normalizeH="0" baseline="0" dirty="0">
                <a:ln>
                  <a:noFill/>
                </a:ln>
                <a:solidFill>
                  <a:schemeClr val="tx1"/>
                </a:solidFill>
                <a:effectLst/>
                <a:latin typeface="Arial" panose="020B0604020202020204" pitchFamily="34" charset="0"/>
              </a:rPr>
              <a:t>Stores user session data using </a:t>
            </a:r>
            <a:r>
              <a:rPr kumimoji="0" lang="en-US" altLang="en-US" sz="1800" i="0" u="none" strike="noStrike" cap="none" normalizeH="0" baseline="0" dirty="0" err="1">
                <a:ln>
                  <a:noFill/>
                </a:ln>
                <a:solidFill>
                  <a:schemeClr val="tx1"/>
                </a:solidFill>
                <a:effectLst/>
                <a:latin typeface="Arial" panose="020B0604020202020204" pitchFamily="34" charset="0"/>
              </a:rPr>
              <a:t>LocalStorage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72965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9142825" cy="1004251"/>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725651"/>
            <a:ext cx="10515600" cy="4037511"/>
          </a:xfrm>
        </p:spPr>
        <p:txBody>
          <a:bodyPr>
            <a:normAutofit/>
          </a:bodyPr>
          <a:lstStyle/>
          <a:p>
            <a:r>
              <a:rPr lang="en-US" dirty="0"/>
              <a:t>To develop a web-based system that helps users analyze their resumes easily.</a:t>
            </a:r>
          </a:p>
          <a:p>
            <a:r>
              <a:rPr lang="en-US" dirty="0"/>
              <a:t>To evaluate resumes using an ATS-based scoring system.</a:t>
            </a:r>
          </a:p>
          <a:p>
            <a:r>
              <a:rPr lang="en-US" dirty="0"/>
              <a:t>To identify missing skills and provide improvement suggestions.</a:t>
            </a:r>
          </a:p>
          <a:p>
            <a:r>
              <a:rPr lang="en-US" dirty="0"/>
              <a:t>To help users understand their job readiness level.</a:t>
            </a:r>
          </a:p>
          <a:p>
            <a:r>
              <a:rPr lang="en-US" dirty="0"/>
              <a:t>To provide interview preparation topics based on selected skills.</a:t>
            </a:r>
          </a:p>
          <a:p>
            <a:r>
              <a:rPr lang="en-US" dirty="0"/>
              <a:t>To create a simple and user-friendly interface for resume evaluation.</a:t>
            </a:r>
          </a:p>
          <a:p>
            <a:endParaRPr lang="en-US" dirty="0"/>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126398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838200" y="1749073"/>
            <a:ext cx="10515600" cy="4351338"/>
          </a:xfrm>
        </p:spPr>
        <p:txBody>
          <a:bodyPr>
            <a:normAutofit/>
          </a:bodyPr>
          <a:lstStyle/>
          <a:p>
            <a:pPr marL="457200" lvl="1" indent="0">
              <a:buNone/>
            </a:pPr>
            <a:r>
              <a:rPr lang="en-IN" sz="2500" dirty="0">
                <a:latin typeface="Times New Roman" panose="02020603050405020304" pitchFamily="18" charset="0"/>
                <a:cs typeface="Times New Roman" panose="02020603050405020304" pitchFamily="18" charset="0"/>
              </a:rPr>
              <a:t>1. CO1 – Web Fundamentals</a:t>
            </a:r>
          </a:p>
          <a:p>
            <a:pPr marL="457200" lvl="1" indent="0">
              <a:buNone/>
            </a:pPr>
            <a:r>
              <a:rPr lang="en-US" sz="2500" dirty="0">
                <a:latin typeface="Times New Roman" panose="02020603050405020304" pitchFamily="18" charset="0"/>
                <a:cs typeface="Times New Roman" panose="02020603050405020304" pitchFamily="18" charset="0"/>
              </a:rPr>
              <a:t>2. CO2 – HTML Forms &amp; Semantic Content</a:t>
            </a:r>
            <a:br>
              <a:rPr lang="en-US" sz="2500" dirty="0">
                <a:latin typeface="Times New Roman" panose="02020603050405020304" pitchFamily="18" charset="0"/>
                <a:cs typeface="Times New Roman" panose="02020603050405020304" pitchFamily="18" charset="0"/>
              </a:rPr>
            </a:br>
            <a:r>
              <a:rPr lang="en-US" sz="2500" dirty="0">
                <a:latin typeface="Times New Roman" panose="02020603050405020304" pitchFamily="18" charset="0"/>
                <a:cs typeface="Times New Roman" panose="02020603050405020304" pitchFamily="18" charset="0"/>
              </a:rPr>
              <a:t>3. </a:t>
            </a:r>
            <a:r>
              <a:rPr lang="en-IN" sz="2500" dirty="0">
                <a:latin typeface="Times New Roman" panose="02020603050405020304" pitchFamily="18" charset="0"/>
                <a:cs typeface="Times New Roman" panose="02020603050405020304" pitchFamily="18" charset="0"/>
              </a:rPr>
              <a:t>CO3 – CSS Layouts &amp; Styling</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4. CO4 – JavaScript Programming Fundamentals</a:t>
            </a:r>
            <a:br>
              <a:rPr lang="en-IN" sz="2500" dirty="0">
                <a:latin typeface="Times New Roman" panose="02020603050405020304" pitchFamily="18" charset="0"/>
                <a:cs typeface="Times New Roman" panose="02020603050405020304" pitchFamily="18" charset="0"/>
              </a:rPr>
            </a:br>
            <a:r>
              <a:rPr lang="en-IN" sz="2500" dirty="0">
                <a:latin typeface="Times New Roman" panose="02020603050405020304" pitchFamily="18" charset="0"/>
                <a:cs typeface="Times New Roman" panose="02020603050405020304" pitchFamily="18" charset="0"/>
              </a:rPr>
              <a:t>5. </a:t>
            </a:r>
            <a:r>
              <a:rPr lang="en-US" sz="2500" dirty="0">
                <a:latin typeface="Times New Roman" panose="02020603050405020304" pitchFamily="18" charset="0"/>
                <a:cs typeface="Times New Roman" panose="02020603050405020304" pitchFamily="18" charset="0"/>
              </a:rPr>
              <a:t>CO5 – JavaScript Interactivity &amp; Web Deployment</a:t>
            </a:r>
            <a:br>
              <a:rPr lang="en-US" sz="2500" dirty="0">
                <a:latin typeface="Times New Roman" panose="02020603050405020304" pitchFamily="18" charset="0"/>
                <a:cs typeface="Times New Roman" panose="02020603050405020304" pitchFamily="18" charset="0"/>
              </a:rPr>
            </a:br>
            <a:endParaRPr lang="en-IN" sz="25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1906946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10" name="Content Placeholder 9">
            <a:extLst>
              <a:ext uri="{FF2B5EF4-FFF2-40B4-BE49-F238E27FC236}">
                <a16:creationId xmlns:a16="http://schemas.microsoft.com/office/drawing/2014/main" id="{2D4C190E-3349-2814-5587-9388549543E1}"/>
              </a:ext>
            </a:extLst>
          </p:cNvPr>
          <p:cNvPicPr>
            <a:picLocks noGrp="1" noChangeAspect="1"/>
          </p:cNvPicPr>
          <p:nvPr>
            <p:ph idx="1"/>
          </p:nvPr>
        </p:nvPicPr>
        <p:blipFill>
          <a:blip r:embed="rId2"/>
          <a:stretch>
            <a:fillRect/>
          </a:stretch>
        </p:blipFill>
        <p:spPr>
          <a:xfrm>
            <a:off x="1807452" y="1825625"/>
            <a:ext cx="8577096" cy="4351338"/>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6544D-F809-214D-0FD1-D1523442C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CA2D7-67C6-1E63-7939-F5B7542AFAEB}"/>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2786C5F5-DCC6-3E01-9005-90A7B21813A1}"/>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C876C2A1-255D-753C-AA42-42EE3379597F}"/>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88E1119-DAA4-8D14-6A5B-758460AB4B7E}"/>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9" name="Content Placeholder 8">
            <a:extLst>
              <a:ext uri="{FF2B5EF4-FFF2-40B4-BE49-F238E27FC236}">
                <a16:creationId xmlns:a16="http://schemas.microsoft.com/office/drawing/2014/main" id="{05FF8DD8-F428-E22F-C877-D3695A3654A8}"/>
              </a:ext>
            </a:extLst>
          </p:cNvPr>
          <p:cNvPicPr>
            <a:picLocks noGrp="1" noChangeAspect="1"/>
          </p:cNvPicPr>
          <p:nvPr>
            <p:ph idx="1"/>
          </p:nvPr>
        </p:nvPicPr>
        <p:blipFill>
          <a:blip r:embed="rId2"/>
          <a:stretch>
            <a:fillRect/>
          </a:stretch>
        </p:blipFill>
        <p:spPr>
          <a:xfrm>
            <a:off x="1810591" y="1690688"/>
            <a:ext cx="8570817" cy="4351338"/>
          </a:xfrm>
          <a:prstGeom prst="rect">
            <a:avLst/>
          </a:prstGeom>
        </p:spPr>
      </p:pic>
    </p:spTree>
    <p:extLst>
      <p:ext uri="{BB962C8B-B14F-4D97-AF65-F5344CB8AC3E}">
        <p14:creationId xmlns:p14="http://schemas.microsoft.com/office/powerpoint/2010/main" val="1132546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BC839-99CE-D486-64AE-15BD020C6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09439-3DD0-0641-A048-619BB7195AD9}"/>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8A903114-022A-8A05-E83F-25E4C344544A}"/>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690A6EBB-0430-0AF2-0ADD-B7DA26904953}"/>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FCECDBFC-0BD0-01BE-F118-D8B8F350310E}"/>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12" name="Content Placeholder 11">
            <a:extLst>
              <a:ext uri="{FF2B5EF4-FFF2-40B4-BE49-F238E27FC236}">
                <a16:creationId xmlns:a16="http://schemas.microsoft.com/office/drawing/2014/main" id="{62D4672A-3E5C-FC98-33F4-FE7B229830E4}"/>
              </a:ext>
            </a:extLst>
          </p:cNvPr>
          <p:cNvPicPr>
            <a:picLocks noGrp="1" noChangeAspect="1"/>
          </p:cNvPicPr>
          <p:nvPr>
            <p:ph idx="1"/>
          </p:nvPr>
        </p:nvPicPr>
        <p:blipFill>
          <a:blip r:embed="rId2"/>
          <a:stretch>
            <a:fillRect/>
          </a:stretch>
        </p:blipFill>
        <p:spPr>
          <a:xfrm>
            <a:off x="2016621" y="1825625"/>
            <a:ext cx="8158758" cy="4351338"/>
          </a:xfrm>
          <a:prstGeom prst="rect">
            <a:avLst/>
          </a:prstGeom>
        </p:spPr>
      </p:pic>
    </p:spTree>
    <p:extLst>
      <p:ext uri="{BB962C8B-B14F-4D97-AF65-F5344CB8AC3E}">
        <p14:creationId xmlns:p14="http://schemas.microsoft.com/office/powerpoint/2010/main" val="779722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0A67B-A72A-302E-3360-5E39727612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71702-2540-595B-B2CD-2C66D0659F53}"/>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768AFDEA-8B43-55A4-60BE-9B4AB059AF01}"/>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72F70BD-D694-AAD6-45E8-109A6C973CEE}"/>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BB9CCCA2-37C2-324A-6AAF-C81EBD8C8168}"/>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0" name="Content Placeholder 9">
            <a:extLst>
              <a:ext uri="{FF2B5EF4-FFF2-40B4-BE49-F238E27FC236}">
                <a16:creationId xmlns:a16="http://schemas.microsoft.com/office/drawing/2014/main" id="{1A43A27F-E893-E97A-528E-452A6C758354}"/>
              </a:ext>
            </a:extLst>
          </p:cNvPr>
          <p:cNvPicPr>
            <a:picLocks noGrp="1" noChangeAspect="1"/>
          </p:cNvPicPr>
          <p:nvPr>
            <p:ph idx="1"/>
          </p:nvPr>
        </p:nvPicPr>
        <p:blipFill>
          <a:blip r:embed="rId2"/>
          <a:stretch>
            <a:fillRect/>
          </a:stretch>
        </p:blipFill>
        <p:spPr>
          <a:xfrm>
            <a:off x="2049967" y="1825625"/>
            <a:ext cx="8092065" cy="4351338"/>
          </a:xfrm>
          <a:prstGeom prst="rect">
            <a:avLst/>
          </a:prstGeom>
        </p:spPr>
      </p:pic>
    </p:spTree>
    <p:extLst>
      <p:ext uri="{BB962C8B-B14F-4D97-AF65-F5344CB8AC3E}">
        <p14:creationId xmlns:p14="http://schemas.microsoft.com/office/powerpoint/2010/main" val="2742921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F3C29-2FF8-3F72-8DE0-D07D6647EA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59EE7-5F24-3D36-2585-8AFAD26BD2D2}"/>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B32FEAE9-98E7-B943-A192-15CE307351FE}"/>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6BB4B660-4693-EA51-E8A7-711FB31F6CF6}"/>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01FA8E10-7D79-D76F-C3E4-972E35A8F284}"/>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9" name="Content Placeholder 8">
            <a:extLst>
              <a:ext uri="{FF2B5EF4-FFF2-40B4-BE49-F238E27FC236}">
                <a16:creationId xmlns:a16="http://schemas.microsoft.com/office/drawing/2014/main" id="{443DBD48-0C85-27BC-5C59-9C0C5209BDA5}"/>
              </a:ext>
            </a:extLst>
          </p:cNvPr>
          <p:cNvPicPr>
            <a:picLocks noGrp="1" noChangeAspect="1"/>
          </p:cNvPicPr>
          <p:nvPr>
            <p:ph idx="1"/>
          </p:nvPr>
        </p:nvPicPr>
        <p:blipFill>
          <a:blip r:embed="rId2"/>
          <a:stretch>
            <a:fillRect/>
          </a:stretch>
        </p:blipFill>
        <p:spPr>
          <a:xfrm>
            <a:off x="2226138" y="1825625"/>
            <a:ext cx="7739724" cy="4351338"/>
          </a:xfrm>
          <a:prstGeom prst="rect">
            <a:avLst/>
          </a:prstGeom>
        </p:spPr>
      </p:pic>
    </p:spTree>
    <p:extLst>
      <p:ext uri="{BB962C8B-B14F-4D97-AF65-F5344CB8AC3E}">
        <p14:creationId xmlns:p14="http://schemas.microsoft.com/office/powerpoint/2010/main" val="1586089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pPr marL="0" indent="0">
              <a:buNone/>
            </a:pPr>
            <a:r>
              <a:rPr lang="en-US" dirty="0"/>
              <a:t>The Smart Resume Analysis System Tool is designed to help job seekers evaluate and improve their resumes effectively. The system analyzes user inputs such as skills, experience, and certifications to generate an ATS score and useful suggestions.</a:t>
            </a:r>
          </a:p>
          <a:p>
            <a:pPr marL="0" indent="0">
              <a:buNone/>
            </a:pPr>
            <a:r>
              <a:rPr lang="en-US" dirty="0"/>
              <a:t>By providing resume evaluation and interview preparation topics, the system helps users understand their job readiness and improve their chances of getting selected. Overall, the tool offers a simple, fast, and user-friendly solution for resume analysis and career preparation.</a:t>
            </a:r>
          </a:p>
          <a:p>
            <a:pPr marL="0" indent="0">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2858912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                         Geo- Tag Photo</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19</a:t>
            </a:fld>
            <a:endParaRPr lang="en-US"/>
          </a:p>
        </p:txBody>
      </p:sp>
      <p:pic>
        <p:nvPicPr>
          <p:cNvPr id="7" name="Content Placeholder 6">
            <a:extLst>
              <a:ext uri="{FF2B5EF4-FFF2-40B4-BE49-F238E27FC236}">
                <a16:creationId xmlns:a16="http://schemas.microsoft.com/office/drawing/2014/main" id="{EDF7B9B6-DC68-8461-2A75-7DCFBAB5FA92}"/>
              </a:ext>
            </a:extLst>
          </p:cNvPr>
          <p:cNvPicPr>
            <a:picLocks noGrp="1" noChangeAspect="1"/>
          </p:cNvPicPr>
          <p:nvPr>
            <p:ph idx="1"/>
          </p:nvPr>
        </p:nvPicPr>
        <p:blipFill>
          <a:blip r:embed="rId2"/>
          <a:stretch>
            <a:fillRect/>
          </a:stretch>
        </p:blipFill>
        <p:spPr>
          <a:xfrm>
            <a:off x="2209800" y="1623529"/>
            <a:ext cx="3263503" cy="435133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20</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4826</TotalTime>
  <Words>1060</Words>
  <Application>Microsoft Office PowerPoint</Application>
  <PresentationFormat>Widescreen</PresentationFormat>
  <Paragraphs>149</Paragraphs>
  <Slides>20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Calibri</vt:lpstr>
      <vt:lpstr>Calibri Light</vt:lpstr>
      <vt:lpstr>Google Sans</vt:lpstr>
      <vt:lpstr>Times New Roman</vt:lpstr>
      <vt:lpstr>Office Theme</vt:lpstr>
      <vt:lpstr>Custom Design</vt:lpstr>
      <vt:lpstr>INSTRUCTIONS</vt:lpstr>
      <vt:lpstr>Title : Smart Resume Analysis System Tool</vt:lpstr>
      <vt:lpstr>OUTLINE</vt:lpstr>
      <vt:lpstr>Abstract</vt:lpstr>
      <vt:lpstr>Existing System </vt:lpstr>
      <vt:lpstr>PowerPoint Presentation</vt:lpstr>
      <vt:lpstr>Proposed System</vt:lpstr>
      <vt:lpstr>Proposed System</vt:lpstr>
      <vt:lpstr>System Architecture</vt:lpstr>
      <vt:lpstr>Project Modules</vt:lpstr>
      <vt:lpstr>Objectives</vt:lpstr>
      <vt:lpstr>Co’s Attainments - FWD</vt:lpstr>
      <vt:lpstr>Screenshots for FWD &amp; DSA</vt:lpstr>
      <vt:lpstr>Screenshots for FWD &amp; DSA</vt:lpstr>
      <vt:lpstr>Screenshots for FWD &amp; DSA</vt:lpstr>
      <vt:lpstr>Screenshots for FWD &amp; DSA</vt:lpstr>
      <vt:lpstr>Screenshots for FWD &amp; DSA</vt:lpstr>
      <vt:lpstr>Conclusion</vt:lpstr>
      <vt:lpstr>                         Geo- Tag Photo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sree chandana</cp:lastModifiedBy>
  <cp:revision>56</cp:revision>
  <dcterms:created xsi:type="dcterms:W3CDTF">2022-05-20T10:20:31Z</dcterms:created>
  <dcterms:modified xsi:type="dcterms:W3CDTF">2026-03-10T02:53:14Z</dcterms:modified>
</cp:coreProperties>
</file>